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Stock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770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7DD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2A45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CA3AF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Liquidar</c:v>
                  </c:pt>
                  <c:pt idx="1">
                    <c:v>Acelerar venta</c:v>
                  </c:pt>
                  <c:pt idx="2">
                    <c:v>Recien ingresado</c:v>
                  </c:pt>
                  <c:pt idx="3">
                    <c:v>Tiene pedido</c:v>
                  </c:pt>
                  <c:pt idx="4">
                    <c:v>Comprar</c:v>
                  </c:pt>
                  <c:pt idx="5">
                    <c:v>Discontinuado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731211</c:v>
                </c:pt>
                <c:pt idx="1">
                  <c:v>1116678</c:v>
                </c:pt>
                <c:pt idx="2">
                  <c:v>339281</c:v>
                </c:pt>
                <c:pt idx="3">
                  <c:v>102477</c:v>
                </c:pt>
                <c:pt idx="4">
                  <c:v>54255</c:v>
                </c:pt>
                <c:pt idx="5">
                  <c:v>27150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B55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B556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Liquidar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Sublimación</c:v>
                  </c:pt>
                  <c:pt idx="1">
                    <c:v>Cartelería</c:v>
                  </c:pt>
                  <c:pt idx="2">
                    <c:v>Kraft</c:v>
                  </c:pt>
                  <c:pt idx="3">
                    <c:v>Laminación</c:v>
                  </c:pt>
                  <c:pt idx="4">
                    <c:v>Vinilos Textiles</c:v>
                  </c:pt>
                  <c:pt idx="5">
                    <c:v>Papelería</c:v>
                  </c:pt>
                  <c:pt idx="6">
                    <c:v>Vinilos de Corte</c:v>
                  </c:pt>
                  <c:pt idx="7">
                    <c:v>Automotor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101535</c:v>
                </c:pt>
                <c:pt idx="1">
                  <c:v>409271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18737</c:v>
                </c:pt>
                <c:pt idx="6">
                  <c:v>139137</c:v>
                </c:pt>
                <c:pt idx="7">
                  <c:v>6060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Acelerar venta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Sublimación</c:v>
                  </c:pt>
                  <c:pt idx="1">
                    <c:v>Cartelería</c:v>
                  </c:pt>
                  <c:pt idx="2">
                    <c:v>Kraft</c:v>
                  </c:pt>
                  <c:pt idx="3">
                    <c:v>Laminación</c:v>
                  </c:pt>
                  <c:pt idx="4">
                    <c:v>Vinilos Textiles</c:v>
                  </c:pt>
                  <c:pt idx="5">
                    <c:v>Papelería</c:v>
                  </c:pt>
                  <c:pt idx="6">
                    <c:v>Vinilos de Corte</c:v>
                  </c:pt>
                  <c:pt idx="7">
                    <c:v>Automotor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333615</c:v>
                </c:pt>
                <c:pt idx="1">
                  <c:v>0</c:v>
                </c:pt>
                <c:pt idx="2">
                  <c:v>152986</c:v>
                </c:pt>
                <c:pt idx="3">
                  <c:v>40751</c:v>
                </c:pt>
                <c:pt idx="4">
                  <c:v>191015</c:v>
                </c:pt>
                <c:pt idx="5">
                  <c:v>104389</c:v>
                </c:pt>
                <c:pt idx="6">
                  <c:v>0</c:v>
                </c:pt>
                <c:pt idx="7">
                  <c:v>54542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Sano / Activo</c:v>
                </c:pt>
              </c:strCache>
            </c:strRef>
          </c:tx>
          <c:spPr>
            <a:solidFill>
              <a:srgbClr val="22A4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Sublimación</c:v>
                  </c:pt>
                  <c:pt idx="1">
                    <c:v>Cartelería</c:v>
                  </c:pt>
                  <c:pt idx="2">
                    <c:v>Kraft</c:v>
                  </c:pt>
                  <c:pt idx="3">
                    <c:v>Laminación</c:v>
                  </c:pt>
                  <c:pt idx="4">
                    <c:v>Vinilos Textiles</c:v>
                  </c:pt>
                  <c:pt idx="5">
                    <c:v>Papelería</c:v>
                  </c:pt>
                  <c:pt idx="6">
                    <c:v>Vinilos de Corte</c:v>
                  </c:pt>
                  <c:pt idx="7">
                    <c:v>Automotor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275595</c:v>
                </c:pt>
                <c:pt idx="1">
                  <c:v>8352</c:v>
                </c:pt>
                <c:pt idx="2">
                  <c:v>87826</c:v>
                </c:pt>
                <c:pt idx="3">
                  <c:v>138553</c:v>
                </c:pt>
                <c:pt idx="4">
                  <c:v>0</c:v>
                </c:pt>
                <c:pt idx="5">
                  <c:v>50856</c:v>
                </c:pt>
                <c:pt idx="6">
                  <c:v>0</c:v>
                </c:pt>
                <c:pt idx="7">
                  <c:v>9090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B556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 2026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Cartelería</c:v>
                  </c:pt>
                  <c:pt idx="1">
                    <c:v>Sublimación</c:v>
                  </c:pt>
                  <c:pt idx="2">
                    <c:v>Vinilos p/ Vidrios</c:v>
                  </c:pt>
                  <c:pt idx="3">
                    <c:v>Vinilos Textiles</c:v>
                  </c:pt>
                  <c:pt idx="4">
                    <c:v>Papelería</c:v>
                  </c:pt>
                  <c:pt idx="5">
                    <c:v>Vinilos de Corte</c:v>
                  </c:pt>
                  <c:pt idx="6">
                    <c:v>Kraft</c:v>
                  </c:pt>
                  <c:pt idx="7">
                    <c:v>Automotor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811516</c:v>
                </c:pt>
                <c:pt idx="1">
                  <c:v>423920</c:v>
                </c:pt>
                <c:pt idx="2">
                  <c:v>47408</c:v>
                </c:pt>
                <c:pt idx="3">
                  <c:v>206231</c:v>
                </c:pt>
                <c:pt idx="4">
                  <c:v>22658</c:v>
                </c:pt>
                <c:pt idx="5">
                  <c:v>147668</c:v>
                </c:pt>
                <c:pt idx="6">
                  <c:v>76530</c:v>
                </c:pt>
                <c:pt idx="7">
                  <c:v>27871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 2026</c:v>
                </c:pt>
              </c:strCache>
            </c:strRef>
          </c:tx>
          <c:spPr>
            <a:solidFill>
              <a:srgbClr val="22A4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Cartelería</c:v>
                  </c:pt>
                  <c:pt idx="1">
                    <c:v>Sublimación</c:v>
                  </c:pt>
                  <c:pt idx="2">
                    <c:v>Vinilos p/ Vidrios</c:v>
                  </c:pt>
                  <c:pt idx="3">
                    <c:v>Vinilos Textiles</c:v>
                  </c:pt>
                  <c:pt idx="4">
                    <c:v>Papelería</c:v>
                  </c:pt>
                  <c:pt idx="5">
                    <c:v>Vinilos de Corte</c:v>
                  </c:pt>
                  <c:pt idx="6">
                    <c:v>Kraft</c:v>
                  </c:pt>
                  <c:pt idx="7">
                    <c:v>Automotor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455544</c:v>
                </c:pt>
                <c:pt idx="1">
                  <c:v>403125</c:v>
                </c:pt>
                <c:pt idx="2">
                  <c:v>31601</c:v>
                </c:pt>
                <c:pt idx="3">
                  <c:v>192116</c:v>
                </c:pt>
                <c:pt idx="4">
                  <c:v>12313</c:v>
                </c:pt>
                <c:pt idx="5">
                  <c:v>139137</c:v>
                </c:pt>
                <c:pt idx="6">
                  <c:v>71086</c:v>
                </c:pt>
                <c:pt idx="7">
                  <c:v>23986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B55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B556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1280160"/>
            <a:ext cx="6858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</a:t>
            </a:r>
            <a:endParaRPr lang="en-US" sz="5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Inventario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3192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Situación actual · Aging · Plan de acción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2026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321040" y="1645920"/>
            <a:ext cx="3291840" cy="1463040"/>
          </a:xfrm>
          <a:prstGeom prst="roundRect">
            <a:avLst>
              <a:gd name="adj" fmla="val 6250"/>
            </a:avLst>
          </a:prstGeom>
          <a:solidFill>
            <a:srgbClr val="263A6E"/>
          </a:solidFill>
          <a:ln w="12700">
            <a:solidFill>
              <a:srgbClr val="3345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366760" y="175564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$2.37M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8366760" y="245059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total valorizado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321040" y="3291840"/>
            <a:ext cx="3291840" cy="1463040"/>
          </a:xfrm>
          <a:prstGeom prst="roundRect">
            <a:avLst>
              <a:gd name="adj" fmla="val 6250"/>
            </a:avLst>
          </a:prstGeom>
          <a:solidFill>
            <a:srgbClr val="263A6E"/>
          </a:solidFill>
          <a:ln w="12700">
            <a:solidFill>
              <a:srgbClr val="3345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66760" y="340156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409651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SKUs analizados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Resumen Ejecutivo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6517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64008" cy="1600200"/>
          </a:xfrm>
          <a:prstGeom prst="rect">
            <a:avLst/>
          </a:prstGeom>
          <a:solidFill>
            <a:srgbClr val="1B2E5E"/>
          </a:solidFill>
          <a:ln w="12700">
            <a:solidFill>
              <a:srgbClr val="1B2E5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24128"/>
            <a:ext cx="2395728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$2.37M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842516"/>
            <a:ext cx="2450592" cy="6720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total valorizado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1840" y="914400"/>
            <a:ext cx="26517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91840" y="914400"/>
            <a:ext cx="64008" cy="1600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56432" y="1024128"/>
            <a:ext cx="2395728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77.9%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401568" y="1842516"/>
            <a:ext cx="2450592" cy="6720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en stock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problematico (Liq + Acel)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914400"/>
            <a:ext cx="26517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914400"/>
            <a:ext cx="64008" cy="16002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91072" y="1024128"/>
            <a:ext cx="2395728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$1.85M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236208" y="1842516"/>
            <a:ext cx="2450592" cy="6720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Liquidar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Acelerar venta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961120" y="914400"/>
            <a:ext cx="26517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61120" y="914400"/>
            <a:ext cx="64008" cy="1600200"/>
          </a:xfrm>
          <a:prstGeom prst="rect">
            <a:avLst/>
          </a:prstGeom>
          <a:solidFill>
            <a:srgbClr val="22A45D"/>
          </a:solidFill>
          <a:ln w="12700">
            <a:solidFill>
              <a:srgbClr val="22A45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25712" y="1024128"/>
            <a:ext cx="2395728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$523K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9070848" y="1842516"/>
            <a:ext cx="2450592" cy="6720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en stock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saludable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260604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Distribución por decisión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11247120" cy="374904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Val.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$731K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Liquidar a precio de salida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Acelerar venta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$1.12M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Preventa / Cyber / Promo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Recien ingresado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7D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$339K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Monitorear rotacion 60-90d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Tiene pedido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$102K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 en curso confirmado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A4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$54K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Reponer, margen positivo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Discontinuado/Reemplazado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 de baja del catalogo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Donde esta el capital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Distribucion del stock valorizado por tipo de decision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6858000" cy="5212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280160"/>
            <a:ext cx="41148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589520" y="1280160"/>
            <a:ext cx="64008" cy="10972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26680" y="137160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30.8%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732520" y="135331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737360"/>
            <a:ext cx="2926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registro de compra — aging probable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589520" y="2560320"/>
            <a:ext cx="41148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589520" y="2560320"/>
            <a:ext cx="64008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26680" y="265176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47.1%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732520" y="26334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Acelerar venta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732520" y="3017520"/>
            <a:ext cx="2926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registrada, rotacion lenta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589520" y="3840480"/>
            <a:ext cx="41148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89520" y="3840480"/>
            <a:ext cx="64008" cy="1097280"/>
          </a:xfrm>
          <a:prstGeom prst="rect">
            <a:avLst/>
          </a:prstGeom>
          <a:solidFill>
            <a:srgbClr val="3B7DD8"/>
          </a:solidFill>
          <a:ln w="12700">
            <a:solidFill>
              <a:srgbClr val="3B7DD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26680" y="393192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7D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14.3%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9136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Recien ingresado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732520" y="4297680"/>
            <a:ext cx="2926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nuevo, monitorear rotacion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589520" y="5120640"/>
            <a:ext cx="41148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89520" y="5120640"/>
            <a:ext cx="64008" cy="1097280"/>
          </a:xfrm>
          <a:prstGeom prst="rect">
            <a:avLst/>
          </a:prstGeom>
          <a:solidFill>
            <a:srgbClr val="22A45D"/>
          </a:solidFill>
          <a:ln w="12700">
            <a:solidFill>
              <a:srgbClr val="22A45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726680" y="521208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A4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2.3%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8732520" y="51937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732520" y="5577840"/>
            <a:ext cx="2926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con menos de 180 dias stock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por categoria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8 categorias — valor de stock y composicion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11247120" cy="5349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2011680"/>
            <a:ext cx="10424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Aging: que hay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mover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3891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Liquidar y acelerar venta — los productos que atan el capital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Evolución del Aging — Mar a Sep 2026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del stock aging por categoria en los últimos 6 meses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47472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05840"/>
            <a:ext cx="64008" cy="1645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115568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$1.763.802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Aging valorizado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de Marzo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005840"/>
            <a:ext cx="347472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43400" y="1005840"/>
            <a:ext cx="64008" cy="1645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115568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$1.328.907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1755648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Aging valorizado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de Septiembre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0" y="1005840"/>
            <a:ext cx="347472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1005840"/>
            <a:ext cx="64008" cy="1645920"/>
          </a:xfrm>
          <a:prstGeom prst="rect">
            <a:avLst/>
          </a:prstGeom>
          <a:solidFill>
            <a:srgbClr val="22A45D"/>
          </a:solidFill>
          <a:ln w="12700">
            <a:solidFill>
              <a:srgbClr val="22A45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58200" y="1115568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2A4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-$434.895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1755648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total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6 meses (−21%)</a:t>
            </a:r>
            <a:endParaRPr lang="en-US" sz="11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57200" y="288036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2834640"/>
          <a:ext cx="3657600" cy="3840480"/>
        </p:xfrm>
        <a:graphic>
          <a:graphicData uri="http://schemas.openxmlformats.org/drawingml/2006/table">
            <a:tbl>
              <a:tblPr/>
              <a:tblGrid>
                <a:gridCol w="1219200"/>
                <a:gridCol w="1219200"/>
                <a:gridCol w="121920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Reducc. $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Reducc.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$10.345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$355.972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Vinilos p/ Vidrios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$15.807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Automotor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$3.885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Vinilos Textiles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$14.115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Vinilos de Corte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$8.531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$20.795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$5.444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E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$434.895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productos a Liquidar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 SKUs · $731K · Sin registro de compra · Aging probable &gt;= 180 dias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530352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Val.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Dias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Margen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FRONTLIT-G-W-13OZ-320X50MT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$76K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4.373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TRANSCCV-PAPER-60X100MT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Vinilos de Corte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$57K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14.130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MESH-LINER-12X12-250X50MT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$34K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FRONTLIT-G-13OZ-160X50MT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$34K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655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FRONTLIT-G-W-13OZ-160X50MT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11.250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FRONTLIT-G-13OZ-100X50MT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456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FRONTLIT-G-13OZ-152X50MT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7.440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FRONTLIT-G-W-13OZ-100X50MT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782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MESH-LINER-12X12-320X50MT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FRONTLIT-G-W-13OZ-250X50MT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Cartelería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5.610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productos — Acelerar Venta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456 SKUs · $1.12M · Compra registrada pero rotacion lenta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530352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Val.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Dias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Margen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Accion tomada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PLANCHA-SUB-30X38-10EN1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activo venta por Fravega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ESPIRALADORA-M-A4-R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destaco mas las fotos y se bajo precio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PAPERSUBLI100A4-100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$48K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11.911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Liquidar x canal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PAPERSUBLI45ROLL-1620X300M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$48K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Liquidar x canal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INKSUBLIK1000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4.848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Bajar precio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TAZASUB-CORA-MAGIC-CER-11OZ-BK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488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Vender x dia de la madre en canal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PAPERM110A4-100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3.087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activo publicidad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PLANCHA-SUB-AUTO-38X38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activo venta por Fravega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GUILLOTINA-A3-METAL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775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INKSUBLIY1000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3.886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Bajar precio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2A45D"/>
          </a:solidFill>
          <a:ln w="12700">
            <a:solidFill>
              <a:srgbClr val="22A45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1828800"/>
            <a:ext cx="10424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activo y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ingresos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48056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rota bien y lo que esta por llegar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saludable — activos y recientes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47472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64008" cy="1645920"/>
          </a:xfrm>
          <a:prstGeom prst="rect">
            <a:avLst/>
          </a:prstGeom>
          <a:solidFill>
            <a:srgbClr val="22A45D"/>
          </a:solidFill>
          <a:ln w="12700">
            <a:solidFill>
              <a:srgbClr val="22A45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24128"/>
            <a:ext cx="3218688" cy="8558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$54K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869034"/>
            <a:ext cx="3273552" cy="6912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 · 67 SKUs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prom. 46.5%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06240" y="914400"/>
            <a:ext cx="347472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06240" y="914400"/>
            <a:ext cx="64008" cy="1645920"/>
          </a:xfrm>
          <a:prstGeom prst="rect">
            <a:avLst/>
          </a:prstGeom>
          <a:solidFill>
            <a:srgbClr val="3B7DD8"/>
          </a:solidFill>
          <a:ln w="12700">
            <a:solidFill>
              <a:srgbClr val="3B7D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70832" y="1024128"/>
            <a:ext cx="3218688" cy="8558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$339K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315968" y="1869034"/>
            <a:ext cx="3273552" cy="6912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Recien ingresado · 26 SKUs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prom. 46.3%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955280" y="914400"/>
            <a:ext cx="374904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55280" y="914400"/>
            <a:ext cx="64008" cy="1645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19872" y="1024128"/>
            <a:ext cx="3493008" cy="8558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$102K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065008" y="1869034"/>
            <a:ext cx="3547872" cy="6912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pedido · 20 SKUs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prom. 36.1%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3474720" cy="3474720"/>
          </a:xfrm>
          <a:prstGeom prst="roundRect">
            <a:avLst>
              <a:gd name="adj" fmla="val 184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788920"/>
            <a:ext cx="64008" cy="3474720"/>
          </a:xfrm>
          <a:prstGeom prst="rect">
            <a:avLst/>
          </a:prstGeom>
          <a:solidFill>
            <a:srgbClr val="22A45D"/>
          </a:solidFill>
          <a:ln w="12700">
            <a:solidFill>
              <a:srgbClr val="22A45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2926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A4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3401568"/>
            <a:ext cx="32004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de mayor rotacion. El stock actual dura menos de 180 dias. Hay que reponer para no perder ventas. Son los de mejor margen del portfolio.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06240" y="2788920"/>
            <a:ext cx="3474720" cy="3474720"/>
          </a:xfrm>
          <a:prstGeom prst="roundRect">
            <a:avLst>
              <a:gd name="adj" fmla="val 184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06240" y="2788920"/>
            <a:ext cx="64008" cy="3474720"/>
          </a:xfrm>
          <a:prstGeom prst="rect">
            <a:avLst/>
          </a:prstGeom>
          <a:solidFill>
            <a:srgbClr val="3B7DD8"/>
          </a:solidFill>
          <a:ln w="12700">
            <a:solidFill>
              <a:srgbClr val="3B7D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89120" y="2926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7D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RECIEN INGRESADO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70832" y="3401568"/>
            <a:ext cx="32004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con compra registrada reciente. La rotacion todavia no se puede medir con precision. Monitorear en los proximos 60-90 dias.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955280" y="2788920"/>
            <a:ext cx="3474720" cy="3474720"/>
          </a:xfrm>
          <a:prstGeom prst="roundRect">
            <a:avLst>
              <a:gd name="adj" fmla="val 184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2788920"/>
            <a:ext cx="64008" cy="3474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38160" y="2926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PEDIDO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119872" y="3401568"/>
            <a:ext cx="32004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tienen un requerimiento confirmado en camino. El stock actual puede estar bajo pero hay reposicion en curso.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Proximos Requerimientos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SKUs con ingreso confirmado o en produccion · Total 363.062 unidades por ingresar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530352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Uds a ingresar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 / Estado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Situacion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5E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TAZASUB-ST-CER-11OZ-WG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171.468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Llega el 22/10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TAZASUB-CORA-CER-11OZ-WG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Esperando fecha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E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TIENE PEDIDO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TAZASUB-MAGIC-CER-11OZ-BK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40.032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Esperando fecha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E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TIENE PEDIDO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BOTSUB-ALU-SPORTCAP-500ML-W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embarcar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TUMBLERSUB-ALU-1200ML-W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embarcar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CHOPPSUB-GLS-FROST-16OZ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10.008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Llega 15/10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E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TIENE PEDIDO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TERMOSUB-DTEMP-500ML-W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embarcar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ESPIRALADORA-M-A4-2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Llegó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COFMUGSUB-DTEMP-500ML-W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Llega 15/10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E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TIENE PEDIDO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BOTSUB-ALU-PORTLID-500ML-W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Llega 15/10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PLANCHA-SUB-30X38-5EN1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Llega el 01/11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E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TIENE PEDIDO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SEW-MINI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embarcar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E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TIENE PEDIDO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TELATEFLON-SUB-40X60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2.000 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embarcar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A4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+ 7 SKUs mas...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5603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 y proximos pasos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005840"/>
            <a:ext cx="5303520" cy="2423160"/>
          </a:xfrm>
          <a:prstGeom prst="roundRect">
            <a:avLst>
              <a:gd name="adj" fmla="val 3774"/>
            </a:avLst>
          </a:prstGeom>
          <a:solidFill>
            <a:srgbClr val="192750"/>
          </a:solidFill>
          <a:ln w="12700">
            <a:solidFill>
              <a:srgbClr val="2D3F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0392" y="109728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115568"/>
            <a:ext cx="4343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en riesgo: 78% del stock total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50392" y="1691640"/>
            <a:ext cx="5029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$1.85M estan en productos sin rotacion adecuada. El foco tiene que estar en recuperar ese capital antes de invertir en nuevas categorias.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309360" y="1005840"/>
            <a:ext cx="5303520" cy="2423160"/>
          </a:xfrm>
          <a:prstGeom prst="roundRect">
            <a:avLst>
              <a:gd name="adj" fmla="val 3774"/>
            </a:avLst>
          </a:prstGeom>
          <a:solidFill>
            <a:srgbClr val="192750"/>
          </a:solidFill>
          <a:ln w="12700">
            <a:solidFill>
              <a:srgbClr val="2D3F7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73952" y="109728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A4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1115568"/>
            <a:ext cx="4343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aging se esta reduciendo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73952" y="1691640"/>
            <a:ext cx="5029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6 meses se redujo $434.895 del aging valorizado (−21%). Carteleria y Papeleria lideran la recuperacion con mas del 44% de reduccion.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3703320"/>
            <a:ext cx="5303520" cy="2423160"/>
          </a:xfrm>
          <a:prstGeom prst="roundRect">
            <a:avLst>
              <a:gd name="adj" fmla="val 3774"/>
            </a:avLst>
          </a:prstGeom>
          <a:solidFill>
            <a:srgbClr val="192750"/>
          </a:solidFill>
          <a:ln w="12700">
            <a:solidFill>
              <a:srgbClr val="2D3F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392" y="379476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7D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13048"/>
            <a:ext cx="4343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Proximos ingresos controlados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" y="4389120"/>
            <a:ext cx="5029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SKUs con pedido confirmado — 363.062 unidades por ingresar. Solo productos de alta rotacion tienen requerimientos activos en camino.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09360" y="3703320"/>
            <a:ext cx="5303520" cy="2423160"/>
          </a:xfrm>
          <a:prstGeom prst="roundRect">
            <a:avLst>
              <a:gd name="adj" fmla="val 3774"/>
            </a:avLst>
          </a:prstGeom>
          <a:solidFill>
            <a:srgbClr val="192750"/>
          </a:solidFill>
          <a:ln w="12700">
            <a:solidFill>
              <a:srgbClr val="2D3F7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73952" y="379476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3813048"/>
            <a:ext cx="4343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Compra: solo productos activos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73952" y="4389120"/>
            <a:ext cx="5029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67 SKUs con stock &lt; 180 dias y margen positivo son los candidatos a reposicion. Prioridad en los de mayor margen y rotacion comprobada.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2026-10-05T14:13:11Z</dcterms:created>
  <dcterms:modified xsi:type="dcterms:W3CDTF">2026-10-05T14:13:11Z</dcterms:modified>
</cp:coreProperties>
</file>