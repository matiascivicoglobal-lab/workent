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Stock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7DD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A45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Liquidar</c:v>
                  </c:pt>
                  <c:pt idx="1">
                    <c:v>Acelerar venta</c:v>
                  </c:pt>
                  <c:pt idx="2">
                    <c:v>Recien ingresado</c:v>
                  </c:pt>
                  <c:pt idx="3">
                    <c:v>Tiene pedido</c:v>
                  </c:pt>
                  <c:pt idx="4">
                    <c:v>Comprar</c:v>
                  </c:pt>
                  <c:pt idx="5">
                    <c:v>Discontinuado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731211</c:v>
                </c:pt>
                <c:pt idx="1">
                  <c:v>1116678</c:v>
                </c:pt>
                <c:pt idx="2">
                  <c:v>339281</c:v>
                </c:pt>
                <c:pt idx="3">
                  <c:v>102477</c:v>
                </c:pt>
                <c:pt idx="4">
                  <c:v>54255</c:v>
                </c:pt>
                <c:pt idx="5">
                  <c:v>27150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Liquidar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Sublimación</c:v>
                  </c:pt>
                  <c:pt idx="1">
                    <c:v>Cartelería</c:v>
                  </c:pt>
                  <c:pt idx="2">
                    <c:v>Kraft</c:v>
                  </c:pt>
                  <c:pt idx="3">
                    <c:v>Laminación</c:v>
                  </c:pt>
                  <c:pt idx="4">
                    <c:v>Vinilos Textiles</c:v>
                  </c:pt>
                  <c:pt idx="5">
                    <c:v>Papelería</c:v>
                  </c:pt>
                  <c:pt idx="6">
                    <c:v>Vinilos de Corte</c:v>
                  </c:pt>
                  <c:pt idx="7">
                    <c:v>Automotor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101535</c:v>
                </c:pt>
                <c:pt idx="1">
                  <c:v>409271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18737</c:v>
                </c:pt>
                <c:pt idx="6">
                  <c:v>139137</c:v>
                </c:pt>
                <c:pt idx="7">
                  <c:v>6060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Acelerar venta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Sublimación</c:v>
                  </c:pt>
                  <c:pt idx="1">
                    <c:v>Cartelería</c:v>
                  </c:pt>
                  <c:pt idx="2">
                    <c:v>Kraft</c:v>
                  </c:pt>
                  <c:pt idx="3">
                    <c:v>Laminación</c:v>
                  </c:pt>
                  <c:pt idx="4">
                    <c:v>Vinilos Textiles</c:v>
                  </c:pt>
                  <c:pt idx="5">
                    <c:v>Papelería</c:v>
                  </c:pt>
                  <c:pt idx="6">
                    <c:v>Vinilos de Corte</c:v>
                  </c:pt>
                  <c:pt idx="7">
                    <c:v>Automotor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333615</c:v>
                </c:pt>
                <c:pt idx="1">
                  <c:v>0</c:v>
                </c:pt>
                <c:pt idx="2">
                  <c:v>152986</c:v>
                </c:pt>
                <c:pt idx="3">
                  <c:v>40751</c:v>
                </c:pt>
                <c:pt idx="4">
                  <c:v>191015</c:v>
                </c:pt>
                <c:pt idx="5">
                  <c:v>104389</c:v>
                </c:pt>
                <c:pt idx="6">
                  <c:v>0</c:v>
                </c:pt>
                <c:pt idx="7">
                  <c:v>54542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Sano / Activo</c:v>
                </c:pt>
              </c:strCache>
            </c:strRef>
          </c:tx>
          <c:spPr>
            <a:solidFill>
              <a:srgbClr val="22A4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Sublimación</c:v>
                  </c:pt>
                  <c:pt idx="1">
                    <c:v>Cartelería</c:v>
                  </c:pt>
                  <c:pt idx="2">
                    <c:v>Kraft</c:v>
                  </c:pt>
                  <c:pt idx="3">
                    <c:v>Laminación</c:v>
                  </c:pt>
                  <c:pt idx="4">
                    <c:v>Vinilos Textiles</c:v>
                  </c:pt>
                  <c:pt idx="5">
                    <c:v>Papelería</c:v>
                  </c:pt>
                  <c:pt idx="6">
                    <c:v>Vinilos de Corte</c:v>
                  </c:pt>
                  <c:pt idx="7">
                    <c:v>Automotor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275595</c:v>
                </c:pt>
                <c:pt idx="1">
                  <c:v>8352</c:v>
                </c:pt>
                <c:pt idx="2">
                  <c:v>87826</c:v>
                </c:pt>
                <c:pt idx="3">
                  <c:v>138553</c:v>
                </c:pt>
                <c:pt idx="4">
                  <c:v>0</c:v>
                </c:pt>
                <c:pt idx="5">
                  <c:v>50856</c:v>
                </c:pt>
                <c:pt idx="6">
                  <c:v>0</c:v>
                </c:pt>
                <c:pt idx="7">
                  <c:v>9090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280160"/>
            <a:ext cx="6858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</a:t>
            </a:r>
            <a:endParaRPr lang="en-US" sz="5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319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 actual · Aging · Plan de acción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0" y="1645920"/>
            <a:ext cx="3291840" cy="1463040"/>
          </a:xfrm>
          <a:prstGeom prst="roundRect">
            <a:avLst>
              <a:gd name="adj" fmla="val 6250"/>
            </a:avLst>
          </a:prstGeom>
          <a:solidFill>
            <a:srgbClr val="263A6E"/>
          </a:solidFill>
          <a:ln w="12700">
            <a:solidFill>
              <a:srgbClr val="3345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366760" y="1755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$2.37M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245059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total valorizado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321040" y="3291840"/>
            <a:ext cx="3291840" cy="1463040"/>
          </a:xfrm>
          <a:prstGeom prst="roundRect">
            <a:avLst>
              <a:gd name="adj" fmla="val 6250"/>
            </a:avLst>
          </a:prstGeom>
          <a:solidFill>
            <a:srgbClr val="263A6E"/>
          </a:solidFill>
          <a:ln w="12700">
            <a:solidFill>
              <a:srgbClr val="3345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66760" y="340156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40965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 analizados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Ejecutivo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1600200"/>
          </a:xfrm>
          <a:prstGeom prst="rect">
            <a:avLst/>
          </a:prstGeom>
          <a:solidFill>
            <a:srgbClr val="1B2E5E"/>
          </a:solidFill>
          <a:ln w="12700">
            <a:solidFill>
              <a:srgbClr val="1B2E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24128"/>
            <a:ext cx="2395728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$2.37M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42516"/>
            <a:ext cx="2450592" cy="672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total valorizado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9144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914400"/>
            <a:ext cx="64008" cy="1600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024128"/>
            <a:ext cx="2395728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77.9%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01568" y="1842516"/>
            <a:ext cx="2450592" cy="672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en stock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problematico (Liq + Acel)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9144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914400"/>
            <a:ext cx="64008" cy="1600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1072" y="1024128"/>
            <a:ext cx="2395728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$1.85M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36208" y="1842516"/>
            <a:ext cx="2450592" cy="672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Liquidar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Acelerar venta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961120" y="9144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0" y="914400"/>
            <a:ext cx="64008" cy="160020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25712" y="1024128"/>
            <a:ext cx="2395728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$523K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070848" y="1842516"/>
            <a:ext cx="2450592" cy="672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en stock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saludable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260604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por decisión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374904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Val.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$731K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 a precio de salida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Acelerar venta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Preventa / Cyber / Promo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Recien ingresado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7D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Monitorear rotacion 60-90d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$102K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 en curso confirmado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A4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Reponer, margen positivo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Discontinuado/Reemplazado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de baja del catalogo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Donde esta el capital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 del stock valorizado por tipo de decision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6858000" cy="5212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280160"/>
            <a:ext cx="41148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589520" y="1280160"/>
            <a:ext cx="64008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37160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30.8%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135331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737360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registro de compra — aging probable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589520" y="2560320"/>
            <a:ext cx="41148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89520" y="2560320"/>
            <a:ext cx="64008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26680" y="26517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47.1%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26334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Acelerar venta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3017520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registrada, rotacion lenta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589520" y="3840480"/>
            <a:ext cx="41148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89520" y="3840480"/>
            <a:ext cx="64008" cy="1097280"/>
          </a:xfrm>
          <a:prstGeom prst="rect">
            <a:avLst/>
          </a:prstGeom>
          <a:solidFill>
            <a:srgbClr val="3B7DD8"/>
          </a:solidFill>
          <a:ln w="12700">
            <a:solidFill>
              <a:srgbClr val="3B7DD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26680" y="393192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7D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14.3%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9136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Recien ingresado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732520" y="4297680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nuevo, monitorear rotacion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20640"/>
            <a:ext cx="41148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89520" y="5120640"/>
            <a:ext cx="64008" cy="109728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726680" y="521208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A4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2.3%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732520" y="51937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732520" y="5577840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con menos de 180 dias stock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por categoria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8 categorias — valor de stock y composicion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11247120" cy="5349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011680"/>
            <a:ext cx="10424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Aging: que hay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mover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891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 y acelerar venta — los productos que atan el capital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productos a Liquidar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SKUs · $731K · Sin registro de compra · Aging probable &gt;= 180 dias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530352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Val.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FRONTLIT-G-W-13OZ-320X50MT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4.373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TRANSCCV-PAPER-60X100MT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Vinilos de Corte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14.130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MESH-LINER-12X12-250X50MT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FRONTLIT-G-13OZ-160X50MT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655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FRONTLIT-G-W-13OZ-160X50MT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11.250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FRONTLIT-G-13OZ-100X50MT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456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FRONTLIT-G-13OZ-152X50MT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7.440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FRONTLIT-G-W-13OZ-100X50MT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MESH-LINER-12X12-320X50MT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FRONTLIT-G-W-13OZ-250X50MT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5.610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productos — Acelerar Venta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 SKUs · $1.12M · Compra registrada pero rotacion lenta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530352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Val.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Accion tomada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PLANCHA-SUB-30X38-10EN1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activo venta por Fravega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ESPIRALADORA-M-A4-R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destaco mas las fotos y se bajo precio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PAPERSUBLI100A4-100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11.911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 x canal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PAPERSUBLI45ROLL-1620X300M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 x canal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INKSUBLIK1000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4.848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Bajar precio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TAZASUB-CORA-MAGIC-CER-11OZ-BK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488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Vender x dia de la madre en canal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PAPERM110A4-100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3.087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activo publicidad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PLANCHA-SUB-AUTO-38X38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activo venta por Fravega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GUILLOTINA-A3-METAL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775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INKSUBLIY1000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3.886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Bajar precio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828800"/>
            <a:ext cx="10424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activo y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ingresos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48056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rota bien y lo que esta por llegar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saludable — activos y recientes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164592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24128"/>
            <a:ext cx="3218688" cy="8558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$54K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69034"/>
            <a:ext cx="3273552" cy="6912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 · 67 SKUs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prom. 46.5%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06240" y="914400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0" y="914400"/>
            <a:ext cx="64008" cy="1645920"/>
          </a:xfrm>
          <a:prstGeom prst="rect">
            <a:avLst/>
          </a:prstGeom>
          <a:solidFill>
            <a:srgbClr val="3B7DD8"/>
          </a:solidFill>
          <a:ln w="12700">
            <a:solidFill>
              <a:srgbClr val="3B7D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70832" y="1024128"/>
            <a:ext cx="3218688" cy="8558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$339K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315968" y="1869034"/>
            <a:ext cx="3273552" cy="6912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Recien ingresado · 26 SKUs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prom. 46.3%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955280" y="914400"/>
            <a:ext cx="374904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55280" y="914400"/>
            <a:ext cx="64008" cy="1645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19872" y="1024128"/>
            <a:ext cx="3493008" cy="8558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$102K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065008" y="1869034"/>
            <a:ext cx="3547872" cy="6912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pedido · 20 SKUs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prom. 36.1%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3474720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788920"/>
            <a:ext cx="64008" cy="347472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A4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401568"/>
            <a:ext cx="32004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 mayor rotacion. El stock actual dura menos de 180 dias. Hay que reponer para no perder ventas. Son los de mejor margen del portfolio.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2788920"/>
            <a:ext cx="3474720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2788920"/>
            <a:ext cx="64008" cy="3474720"/>
          </a:xfrm>
          <a:prstGeom prst="rect">
            <a:avLst/>
          </a:prstGeom>
          <a:solidFill>
            <a:srgbClr val="3B7DD8"/>
          </a:solidFill>
          <a:ln w="12700">
            <a:solidFill>
              <a:srgbClr val="3B7D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8912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RECIEN INGRESADO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0832" y="3401568"/>
            <a:ext cx="32004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con compra registrada reciente. La rotacion todavia no se puede medir con precision. Monitorear en los proximos 60-90 dias.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955280" y="2788920"/>
            <a:ext cx="3474720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2788920"/>
            <a:ext cx="64008" cy="3474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PEDIDO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119872" y="3401568"/>
            <a:ext cx="32004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tienen un requerimiento confirmado en camino. El stock actual puede estar bajo pero hay reposicion en curso.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Proximos Requerimientos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SKUs con ingreso confirmado o en produccion · Total 363.062 unidades por ingresar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530352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Uds a ingresar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/ Estado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Situacion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TAZASUB-ST-CER-11OZ-WG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171.468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el 22/10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TAZASUB-CORA-CER-11OZ-WG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Esperando fecha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TAZASUB-MAGIC-CER-11OZ-BK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40.032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Esperando fecha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BOTSUB-ALU-SPORTCAP-500ML-W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TUMBLERSUB-ALU-1200ML-W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CHOPPSUB-GLS-FROST-16OZ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10.008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15/10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TERMOSUB-DTEMP-500ML-W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ESPIRALADORA-M-A4-2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COFMUGSUB-DTEMP-500ML-W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15/10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BOTSUB-ALU-PORTLID-500ML-W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15/10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PLANCHA-SUB-30X38-5EN1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el 01/11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SEW-MINI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TELATEFLON-SUB-40X60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+ 7 SKUs mas...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proximos pasos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005840"/>
            <a:ext cx="5303520" cy="2423160"/>
          </a:xfrm>
          <a:prstGeom prst="roundRect">
            <a:avLst>
              <a:gd name="adj" fmla="val 3774"/>
            </a:avLst>
          </a:prstGeom>
          <a:solidFill>
            <a:srgbClr val="192750"/>
          </a:solidFill>
          <a:ln w="12700">
            <a:solidFill>
              <a:srgbClr val="2D3F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0392" y="10972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11556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en riesgo: 78% del stock total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169164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$1.85M estan en productos sin rotacion adecuada. El foco tiene que estar en recuperar ese capital antes de invertir en nuevas categorias.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09360" y="1005840"/>
            <a:ext cx="5303520" cy="2423160"/>
          </a:xfrm>
          <a:prstGeom prst="roundRect">
            <a:avLst>
              <a:gd name="adj" fmla="val 3774"/>
            </a:avLst>
          </a:prstGeom>
          <a:solidFill>
            <a:srgbClr val="192750"/>
          </a:solidFill>
          <a:ln w="12700">
            <a:solidFill>
              <a:srgbClr val="2D3F7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73952" y="10972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111556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ya iniciadas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69164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 lanzada en productos con aging registrado. Liquidacion iniciada en Carteleria y Vinilos de Corte. Cyber Mayorista contemplado para acelerar salida.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703320"/>
            <a:ext cx="5303520" cy="2423160"/>
          </a:xfrm>
          <a:prstGeom prst="roundRect">
            <a:avLst>
              <a:gd name="adj" fmla="val 3774"/>
            </a:avLst>
          </a:prstGeom>
          <a:solidFill>
            <a:srgbClr val="192750"/>
          </a:solidFill>
          <a:ln w="12700">
            <a:solidFill>
              <a:srgbClr val="2D3F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" y="379476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7D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1304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ingresos controlados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" y="438912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SKUs con pedido confirmado — 363.062 unidades por ingresar. Solo productos de alta rotacion tienen requerimientos activos en camino.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3703320"/>
            <a:ext cx="5303520" cy="2423160"/>
          </a:xfrm>
          <a:prstGeom prst="roundRect">
            <a:avLst>
              <a:gd name="adj" fmla="val 3774"/>
            </a:avLst>
          </a:prstGeom>
          <a:solidFill>
            <a:srgbClr val="192750"/>
          </a:solidFill>
          <a:ln w="12700">
            <a:solidFill>
              <a:srgbClr val="2D3F7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73952" y="379476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A4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81304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Compra: solo productos activos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438912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67 SKUs con stock &lt; 180 dias y margen positivo son los candidatos a reposicion. Prioridad en los de mayor margen y rotacion comprobada.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2026-10-05T13:11:57Z</dcterms:created>
  <dcterms:modified xsi:type="dcterms:W3CDTF">2026-10-05T13:11:57Z</dcterms:modified>
</cp:coreProperties>
</file>